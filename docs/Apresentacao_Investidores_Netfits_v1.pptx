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084FC"/>
                </a:solidFill>
              </a:defRPr>
            </a:pPr>
            <a:r>
              <a:t>NETFITS TECNOLOGIA S.A.</a:t>
            </a:r>
          </a:p>
          <a:p>
            <a:pPr>
              <a:defRPr sz="1800" b="1">
                <a:solidFill>
                  <a:srgbClr val="84CC16"/>
                </a:solidFill>
              </a:defRPr>
            </a:pPr>
            <a:r>
              <a:t>Slogan: "Fazer cada movimento valer mais."</a:t>
            </a:r>
          </a:p>
          <a:p>
            <a:br/>
            <a:pPr>
              <a:defRPr sz="1400" b="1">
                <a:solidFill>
                  <a:srgbClr val="FFFFFF"/>
                </a:solidFill>
              </a:defRPr>
            </a:pPr>
            <a:r>
              <a:t>Apresentação Executiva de Negócio (Rodada Seed: R$ 4M a R$ 8M)</a:t>
            </a:r>
          </a:p>
          <a:p>
            <a:br/>
            <a:pPr>
              <a:defRPr sz="1200">
                <a:solidFill>
                  <a:srgbClr val="A1A1AA"/>
                </a:solidFill>
              </a:defRPr>
            </a:pPr>
            <a:r>
              <a:t>• Etapa 1: Benefícios (Valor Imediato — Feed, nfs, Shop &amp; Bancos)</a:t>
            </a:r>
            <a:br/>
            <a:r>
              <a:t>• Etapa 2: Hábitos (Valor Recorrente — Wearables &amp; Clube R$ 19,90/m)</a:t>
            </a:r>
            <a:br/>
            <a:r>
              <a:t>• Etapa 3: Longevidade (Valor para Sempre — Saúde Preventiva &amp; B2B)</a:t>
            </a:r>
          </a:p>
        </p:txBody>
      </p:sp>
      <p:pic>
        <p:nvPicPr>
          <p:cNvPr id="3" name="Picture 2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188720"/>
            <a:ext cx="4754880" cy="33432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4CC16"/>
                </a:solidFill>
                <a:latin typeface="Calibri"/>
              </a:defRPr>
            </a:pPr>
            <a:r>
              <a:t>NETFITS TECNOLOGIA S.A.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⚠️ O Problema do Mercado (The Problem)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18181B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84CC16"/>
                </a:solidFill>
              </a:defRPr>
            </a:pPr>
            <a:r>
              <a:t>1. Churn Elevado (&gt;65%)</a:t>
            </a:r>
          </a:p>
          <a:p>
            <a:br/>
            <a:pPr>
              <a:defRPr sz="1300">
                <a:solidFill>
                  <a:srgbClr val="FFFFFF"/>
                </a:solidFill>
              </a:defRPr>
            </a:pPr>
            <a:r>
              <a:t>Praticantes ativos abandonam academias e apps nos primeiros 90 dias por falta de incentivos tangíveis.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645920"/>
            <a:ext cx="3291840" cy="4114800"/>
          </a:xfrm>
          <a:prstGeom prst="roundRect">
            <a:avLst/>
          </a:prstGeom>
          <a:solidFill>
            <a:srgbClr val="18181B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84CC16"/>
                </a:solidFill>
              </a:defRPr>
            </a:pPr>
            <a:r>
              <a:t>2. CAC Explosivo</a:t>
            </a:r>
          </a:p>
          <a:p>
            <a:br/>
            <a:pPr>
              <a:defRPr sz="1300">
                <a:solidFill>
                  <a:srgbClr val="FFFFFF"/>
                </a:solidFill>
              </a:defRPr>
            </a:pPr>
            <a:r>
              <a:t>Marcas esportivas e clínicas gastam fortunas em mídia paga tradicional com conversão cada vez menor.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645920"/>
            <a:ext cx="3291840" cy="4114800"/>
          </a:xfrm>
          <a:prstGeom prst="roundRect">
            <a:avLst/>
          </a:prstGeom>
          <a:solidFill>
            <a:srgbClr val="18181B"/>
          </a:solidFill>
          <a:ln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84CC16"/>
                </a:solidFill>
              </a:defRPr>
            </a:pPr>
            <a:r>
              <a:t>3. Pontos Tradicionais Quebrados</a:t>
            </a:r>
          </a:p>
          <a:p>
            <a:br/>
            <a:pPr>
              <a:defRPr sz="1300">
                <a:solidFill>
                  <a:srgbClr val="FFFFFF"/>
                </a:solidFill>
              </a:defRPr>
            </a:pPr>
            <a:r>
              <a:t>Pontos expirados sem aviso e regras punitivas desestimulam a fidelização do consumidor.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4CC16"/>
                </a:solidFill>
                <a:latin typeface="Calibri"/>
              </a:defRPr>
            </a:pPr>
            <a:r>
              <a:t>NETFITS TECNOLOGIA S.A.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💡 A Solução Netfits — Captura Real do Feed do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84CC16"/>
                </a:solidFill>
              </a:defRPr>
            </a:pPr>
            <a:r>
              <a:t>• Feed Editorial Curado &amp; Recompensas: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+5 nfs por ler artigos, +10 nfs por compartilhar no WhatsApp, +50 nfs em compras.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Valor Imediato no Dia 1: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Sem cadastro complexo ou dependência de wearables para gerar os primeiros benefícios.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Healthspan, Não Culto à Performance: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Consistência e vitalidade sem culto à comparação corporal ou promessas clínicas.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Algoritmo FEFO Protegido: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Consumo prioritário dos pontos mais próximos de expirar.</a:t>
            </a:r>
            <a:br/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4CC16"/>
                </a:solidFill>
                <a:latin typeface="Calibri"/>
              </a:defRPr>
            </a:pPr>
            <a:r>
              <a:t>NETFITS TECNOLOGIA S.A.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🤝 Canais B2B2C &amp; Categoria Única de Associados Netfits (10,0%)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400" b="1">
                <a:solidFill>
                  <a:srgbClr val="84CC16"/>
                </a:solidFill>
              </a:defRPr>
            </a:pPr>
            <a:r>
              <a:t>• Categoria Única de Associados Netfits: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Comissão padrão de 10,0% repassada diretamente sobre as receitas geradas pela rede.</a:t>
            </a:r>
            <a:br/>
          </a:p>
          <a:p>
            <a:pPr>
              <a:defRPr sz="1400" b="1">
                <a:solidFill>
                  <a:srgbClr val="84CC16"/>
                </a:solidFill>
              </a:defRPr>
            </a:pPr>
            <a:r>
              <a:t>• Escala por Influência &amp; Atendimento: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Studios, assessorias de corrida, médicos esportivos e criadores de conteúdo ativados.</a:t>
            </a:r>
            <a:br/>
          </a:p>
          <a:p>
            <a:pPr>
              <a:defRPr sz="1400" b="1">
                <a:solidFill>
                  <a:srgbClr val="84CC16"/>
                </a:solidFill>
              </a:defRPr>
            </a:pPr>
            <a:r>
              <a:t>• MGM (Member Get Member): 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  Remuneração direta por novas assinaturas do Netfits Club e vendas no Marketplace.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4CC16"/>
                </a:solidFill>
                <a:latin typeface="Calibri"/>
              </a:defRPr>
            </a:pPr>
            <a:r>
              <a:t>NETFITS TECNOLOGIA S.A.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🛍️ Netfits Shop — Captura Real do Marketplace do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84CC16"/>
                </a:solidFill>
              </a:defRPr>
            </a:pPr>
            <a:r>
              <a:t>• 8,0% Take-Rate Padrão no GMV: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Comissão padrão sobre o GMV dos sellers credenciados.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Cashback Transparente em nfs: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Selo visual '+50 nfs cashback' em produtos esportivos.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Categorias Curadas: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Tênis, wearables, suplementos, inscrições em corridas e recovery.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Conversão Sem Atrito: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Integração direta entre feed editorial e o e-commerce.</a:t>
            </a:r>
            <a:br/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4CC16"/>
                </a:solidFill>
                <a:latin typeface="Calibri"/>
              </a:defRPr>
            </a:pPr>
            <a:r>
              <a:t>NETFITS TECNOLOGIA S.A.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🪙 Carteira nfs &amp; FEFO — Captura Real da Wallet do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84CC16"/>
                </a:solidFill>
              </a:defRPr>
            </a:pPr>
            <a:r>
              <a:t>• CPP de Acúmulo vs Resgate: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CPP Acúmulo: R$ 0,02/nfs | CPP Resgate: R$ 0,01/nfs | Custo Provisão: R$ 0,01/nfs.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Fila de Validade FEFO: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Lotes organizados com tag visual '1º A ser consumido'.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Declaração de Pontos de Bancos: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Conector para Livelo, Esfera, Átomos, Smiles e LATAM Pass.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Passivo Retido em Caixa: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Reserva atuarial de R$ 88.842,00 (100% Solvente).</a:t>
            </a:r>
            <a:br/>
          </a:p>
        </p:txBody>
      </p:sp>
      <p:pic>
        <p:nvPicPr>
          <p:cNvPr id="4" name="Picture 3" descr="real_netfits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4075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84CC16"/>
                </a:solidFill>
                <a:latin typeface="Calibri"/>
              </a:defRPr>
            </a:pPr>
            <a:r>
              <a:t>NETFITS TECNOLOGIA S.A.</a:t>
            </a:r>
          </a:p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📈 DRE Financeiro Executivo — Captura Real do Painel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 b="1">
                <a:solidFill>
                  <a:srgbClr val="84CC16"/>
                </a:solidFill>
              </a:defRPr>
            </a:pPr>
            <a:r>
              <a:t>• Fase 1 (Launch Inicial Sem Clube):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Receita Bruta R$ 893.850,00 | EBITDA R$ 157.625,40 (17,6% Margem).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Fase 2 (Expansão Com Clube R$ 19,90/m):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Receita Bruta R$ 1.789.350,00 | EBITDA R$ 963.080,40 (53,8% Margem).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Lucro Líquido do Exercício: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Fase 1: R$ 129.895,34 (14,5%) -&gt; Fase 2: R$ 815.958,34 (45,6%).</a:t>
            </a:r>
            <a:br/>
          </a:p>
          <a:p>
            <a:pPr>
              <a:defRPr sz="1200" b="1">
                <a:solidFill>
                  <a:srgbClr val="84CC16"/>
                </a:solidFill>
              </a:defRPr>
            </a:pPr>
            <a:r>
              <a:t>• Uso dos Recursos (Rodada Seed R$ 4M-8M): 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  40% Tecnologia, 25% Growth, 15% Comercial, 10% BI/Antifraude, 10% G&amp;A.</a:t>
            </a:r>
            <a:br/>
          </a:p>
        </p:txBody>
      </p:sp>
      <p:pic>
        <p:nvPicPr>
          <p:cNvPr id="4" name="Picture 3" descr="real_netfits_admin_d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