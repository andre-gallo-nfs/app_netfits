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685800" cy="68580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tfit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4343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00200" y="3474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3E635"/>
                </a:solidFill>
              </a:defRPr>
            </a:pPr>
            <a:r>
              <a:t>AUTONOMOUS MULTI-AGENT AI ARCHITECTURE · NETFITS LTDA.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Arquitetura Multiagêntica: Operação Nativamente AI-First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583680" cy="868680"/>
          </a:xfrm>
          <a:prstGeom prst="roundRect">
            <a:avLst/>
          </a:prstGeom>
          <a:solidFill>
            <a:srgbClr val="1C192A"/>
          </a:solidFill>
          <a:ln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3E635"/>
                </a:solidFill>
              </a:defRPr>
            </a:pPr>
            <a:r>
              <a:t>EMPRESA LEGITIMAMENTE AI-FIRST · OPERAÇÃO AUTÔNOMA DE PONTA A PONTA</a:t>
            </a:r>
          </a:p>
          <a:p>
            <a:pPr>
              <a:defRPr sz="1000">
                <a:solidFill>
                  <a:srgbClr val="D4D4D8"/>
                </a:solidFill>
              </a:defRPr>
            </a:pPr>
            <a:r>
              <a:t>A IA não é uma camada sobreposta, mas a infraestrutura central de dados, finanças, suporte e engajamento.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3200400" cy="868680"/>
          </a:xfrm>
          <a:prstGeom prst="roundRect">
            <a:avLst/>
          </a:prstGeom>
          <a:solidFill>
            <a:srgbClr val="141418"/>
          </a:solidFill>
          <a:ln>
            <a:solidFill>
              <a:srgbClr val="2D2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3E635"/>
                </a:solidFill>
              </a:defRPr>
            </a:pPr>
            <a:r>
              <a:t>1. Shop Recommender AI</a:t>
            </a:r>
          </a:p>
          <a:p>
            <a:pPr>
              <a:defRPr sz="1000">
                <a:solidFill>
                  <a:srgbClr val="D4D4D8"/>
                </a:solidFill>
              </a:defRPr>
            </a:pPr>
            <a:r>
              <a:t>Recomendações e suplementos pós-treino por telemetria.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240280"/>
            <a:ext cx="3200400" cy="868680"/>
          </a:xfrm>
          <a:prstGeom prst="roundRect">
            <a:avLst/>
          </a:prstGeom>
          <a:solidFill>
            <a:srgbClr val="141418"/>
          </a:solidFill>
          <a:ln>
            <a:solidFill>
              <a:srgbClr val="2D2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084FC"/>
                </a:solidFill>
              </a:defRPr>
            </a:pPr>
            <a:r>
              <a:t>2. Feed Curator AI</a:t>
            </a:r>
          </a:p>
          <a:p>
            <a:pPr>
              <a:defRPr sz="1000">
                <a:solidFill>
                  <a:srgbClr val="D4D4D8"/>
                </a:solidFill>
              </a:defRPr>
            </a:pPr>
            <a:r>
              <a:t>Ranqueamento contextual e moderação de conteúdo social.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3200400" cy="868680"/>
          </a:xfrm>
          <a:prstGeom prst="roundRect">
            <a:avLst/>
          </a:prstGeom>
          <a:solidFill>
            <a:srgbClr val="141418"/>
          </a:solidFill>
          <a:ln>
            <a:solidFill>
              <a:srgbClr val="2D2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3. Fraud Shield AI</a:t>
            </a:r>
          </a:p>
          <a:p>
            <a:pPr>
              <a:defRPr sz="1000">
                <a:solidFill>
                  <a:srgbClr val="D4D4D8"/>
                </a:solidFill>
              </a:defRPr>
            </a:pPr>
            <a:r>
              <a:t>Prevenção de GPS spoofing, cadência falsa e fraudes de pontos.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3200400"/>
            <a:ext cx="3200400" cy="868680"/>
          </a:xfrm>
          <a:prstGeom prst="roundRect">
            <a:avLst/>
          </a:prstGeom>
          <a:solidFill>
            <a:srgbClr val="141418"/>
          </a:solidFill>
          <a:ln>
            <a:solidFill>
              <a:srgbClr val="2D2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3E635"/>
                </a:solidFill>
              </a:defRPr>
            </a:pPr>
            <a:r>
              <a:t>4. Tax &amp; Accounting AI</a:t>
            </a:r>
          </a:p>
          <a:p>
            <a:pPr>
              <a:defRPr sz="1000">
                <a:solidFill>
                  <a:srgbClr val="D4D4D8"/>
                </a:solidFill>
              </a:defRPr>
            </a:pPr>
            <a:r>
              <a:t>Auditoria contábil em tempo real e cálculo FEFO de breakage.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3200400" cy="868680"/>
          </a:xfrm>
          <a:prstGeom prst="roundRect">
            <a:avLst/>
          </a:prstGeom>
          <a:solidFill>
            <a:srgbClr val="141418"/>
          </a:solidFill>
          <a:ln>
            <a:solidFill>
              <a:srgbClr val="2D2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084FC"/>
                </a:solidFill>
              </a:defRPr>
            </a:pPr>
            <a:r>
              <a:t>5. CS 24/7 Agent</a:t>
            </a:r>
          </a:p>
          <a:p>
            <a:pPr>
              <a:defRPr sz="1000">
                <a:solidFill>
                  <a:srgbClr val="D4D4D8"/>
                </a:solidFill>
              </a:defRPr>
            </a:pPr>
            <a:r>
              <a:t>Atendimento humanizado autônomo para suporte e resgates.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4160520"/>
            <a:ext cx="3200400" cy="868680"/>
          </a:xfrm>
          <a:prstGeom prst="roundRect">
            <a:avLst/>
          </a:prstGeom>
          <a:solidFill>
            <a:srgbClr val="141418"/>
          </a:solidFill>
          <a:ln>
            <a:solidFill>
              <a:srgbClr val="2D2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6. Partner Co-Pilot</a:t>
            </a:r>
          </a:p>
          <a:p>
            <a:pPr>
              <a:defRPr sz="1000">
                <a:solidFill>
                  <a:srgbClr val="D4D4D8"/>
                </a:solidFill>
              </a:defRPr>
            </a:pPr>
            <a:r>
              <a:t>Onboarding automatizado de academias e conciliação B2B.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3200400" cy="868680"/>
          </a:xfrm>
          <a:prstGeom prst="roundRect">
            <a:avLst/>
          </a:prstGeom>
          <a:solidFill>
            <a:srgbClr val="141418"/>
          </a:solidFill>
          <a:ln>
            <a:solidFill>
              <a:srgbClr val="2D2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3E635"/>
                </a:solidFill>
              </a:defRPr>
            </a:pPr>
            <a:r>
              <a:t>7. Sensor Telemetry AI</a:t>
            </a:r>
          </a:p>
          <a:p>
            <a:pPr>
              <a:defRPr sz="1000">
                <a:solidFill>
                  <a:srgbClr val="D4D4D8"/>
                </a:solidFill>
              </a:defRPr>
            </a:pPr>
            <a:r>
              <a:t>Ingestão e validação de esforço cardíaco e calorias.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5120640"/>
            <a:ext cx="3200400" cy="868680"/>
          </a:xfrm>
          <a:prstGeom prst="roundRect">
            <a:avLst/>
          </a:prstGeom>
          <a:solidFill>
            <a:srgbClr val="141418"/>
          </a:solidFill>
          <a:ln>
            <a:solidFill>
              <a:srgbClr val="2D2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084FC"/>
                </a:solidFill>
              </a:defRPr>
            </a:pPr>
            <a:r>
              <a:t>8. BI Insights Miner</a:t>
            </a:r>
          </a:p>
          <a:p>
            <a:pPr>
              <a:defRPr sz="1000">
                <a:solidFill>
                  <a:srgbClr val="D4D4D8"/>
                </a:solidFill>
              </a:defRPr>
            </a:pPr>
            <a:r>
              <a:t>Tabulação contínua de 100% dos canais (chat, whats, forms).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172200"/>
            <a:ext cx="6583680" cy="502920"/>
          </a:xfrm>
          <a:prstGeom prst="roundRect">
            <a:avLst/>
          </a:prstGeom>
          <a:solidFill>
            <a:srgbClr val="102018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EFICIÊNCIA FINOPS: R$ 990/mês (US$ 180) vs R$ 20.900/mês monolítico (-95,2%) │ Escala para 1M MAU sem inchaço de folha.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